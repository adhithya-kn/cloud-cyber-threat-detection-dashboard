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8" r:id="rId1"/>
  </p:sldMasterIdLst>
  <p:notesMasterIdLst>
    <p:notesMasterId r:id="rId14"/>
  </p:notesMasterIdLst>
  <p:handoutMasterIdLst>
    <p:handoutMasterId r:id="rId15"/>
  </p:handoutMasterIdLst>
  <p:sldIdLst>
    <p:sldId id="507" r:id="rId2"/>
    <p:sldId id="1027" r:id="rId3"/>
    <p:sldId id="1012" r:id="rId4"/>
    <p:sldId id="1034" r:id="rId5"/>
    <p:sldId id="1036" r:id="rId6"/>
    <p:sldId id="1037" r:id="rId7"/>
    <p:sldId id="1011" r:id="rId8"/>
    <p:sldId id="1026" r:id="rId9"/>
    <p:sldId id="1033" r:id="rId10"/>
    <p:sldId id="1038" r:id="rId11"/>
    <p:sldId id="1041" r:id="rId12"/>
    <p:sldId id="1025" r:id="rId13"/>
    <p:sldId id="1042" r:id="rId22"/>
    <p:sldId id="1043" r:id="rId23"/>
    <p:sldId id="1044" r:id="rId24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rof. Shekhar . R" initials="PS.R" lastIdx="1" clrIdx="0">
    <p:extLst>
      <p:ext uri="{19B8F6BF-5375-455C-9EA6-DF929625EA0E}">
        <p15:presenceInfo xmlns:p15="http://schemas.microsoft.com/office/powerpoint/2012/main" userId="S-1-5-21-1415727340-1540263038-2234542919-138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57D49E-21CF-3388-5FA8-6C545642F582}" v="114" dt="2026-10-07T12:42:29.199"/>
  </p1510:revLst>
</p1510:revInfo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commentAuthors" Target="commentAuthors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3F2378-E9BC-4DF3-B317-060928E4E621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1D99B9-BA06-4A87-B300-D8D5C0E3ED1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8940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dirty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BA7B44CD-007F-4479-9F76-504AB024A03E}" type="datetimeFigureOut">
              <a:rPr lang="en-US"/>
              <a:pPr>
                <a:defRPr/>
              </a:pPr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dirty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FD4853D3-BCEF-4909-916C-A78958746EC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65748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D4853D3-BCEF-4909-916C-A78958746EC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9331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56356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472" y="6553201"/>
            <a:ext cx="1219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E80FD4C6-48AB-4634-9A0B-834BD7BA5A0C}" type="slidenum">
              <a:rPr lang="en-IN" sz="1200" smtClean="0">
                <a:latin typeface="+mn-lt"/>
              </a:rPr>
              <a:pPr algn="r"/>
              <a:t>‹#›</a:t>
            </a:fld>
            <a:endParaRPr lang="en-IN" sz="1200"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39" r:id="rId1"/>
    <p:sldLayoutId id="2147483940" r:id="rId2"/>
    <p:sldLayoutId id="2147483944" r:id="rId3"/>
  </p:sldLayoutIdLst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90112947-B9C2-2E92-2ED4-7AE86C45C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0808" y="1913534"/>
            <a:ext cx="8534400" cy="45559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>
              <a:defRPr/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Team Members: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sz="2000" b="0">
                <a:solidFill>
                  <a:srgbClr val="FFFFFF"/>
                </a:solidFill>
                <a:latin typeface="Times New Roman"/>
              </a:rPr>
              <a:t>1. ROHAN H — 2411021060715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Times New Roman"/>
              </a:rPr>
              <a:t>2. ADHITHYA K N — 2411021060714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Times New Roman"/>
              </a:rPr>
              <a:t>3. THARUN REDDY — 2411021060740</a:t>
            </a:r>
          </a:p>
          <a:p>
            <a:pPr algn="l"/>
          </a:p>
          <a:p>
            <a:pPr algn="l"/>
            <a:r>
              <a:rPr sz="2000" b="1">
                <a:solidFill>
                  <a:srgbClr val="FFFFFF"/>
                </a:solidFill>
                <a:latin typeface="Times New Roman"/>
              </a:rPr>
              <a:t>CLOUD APPLICATIONS AND DEVELOPMENT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Times New Roman"/>
              </a:rPr>
              <a:t>Course Code: E1CSA372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Times New Roman"/>
              </a:rPr>
              <a:t>Under the supervision of Dr. C VIJI</a:t>
            </a:r>
          </a:p>
        </p:txBody>
      </p:sp>
      <p:sp>
        <p:nvSpPr>
          <p:cNvPr id="2" name="Subtitle 5">
            <a:extLst>
              <a:ext uri="{FF2B5EF4-FFF2-40B4-BE49-F238E27FC236}">
                <a16:creationId xmlns:a16="http://schemas.microsoft.com/office/drawing/2014/main" id="{27730FEB-39A4-55AF-1A5E-7D14BEA4EF64}"/>
              </a:ext>
            </a:extLst>
          </p:cNvPr>
          <p:cNvSpPr txBox="1">
            <a:spLocks/>
          </p:cNvSpPr>
          <p:nvPr/>
        </p:nvSpPr>
        <p:spPr>
          <a:xfrm>
            <a:off x="2485865" y="784718"/>
            <a:ext cx="6346663" cy="7491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Times New Roman"/>
              </a:rPr>
              <a:t>Cloud-Based Cyber Threat Detection &amp; Mitigation System</a:t>
            </a:r>
            <a:endParaRPr lang="en-IN" sz="2800" b="1"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471D20-F6B2-348C-6B60-AFE0319ECD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55" y="153857"/>
            <a:ext cx="3125501" cy="6308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2037F-BF3C-25A0-59D8-5919CD38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FBD98C-77FA-F4F3-D8D1-E351DADE6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4275" y="297702"/>
            <a:ext cx="3210257" cy="5635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515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1. Introduction &amp; Background: </a:t>
            </a:r>
            <a:r>
              <a:rPr sz="1500">
                <a:solidFill>
                  <a:srgbClr val="E2E8F0"/>
                </a:solidFill>
                <a:latin typeface="Times New Roman"/>
              </a:rPr>
              <a:t>Rising scale of cloud security attacks &amp; necessity of automated detection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2. Problem Statement &amp; Scope: </a:t>
            </a:r>
            <a:r>
              <a:rPr sz="1500">
                <a:solidFill>
                  <a:srgbClr val="E2E8F0"/>
                </a:solidFill>
                <a:latin typeface="Times New Roman"/>
              </a:rPr>
              <a:t>Limitations of traditional signature IDS &amp; our threat mitigation scope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3. System Architecture &amp; Methodology: </a:t>
            </a:r>
            <a:r>
              <a:rPr sz="1500">
                <a:solidFill>
                  <a:srgbClr val="E2E8F0"/>
                </a:solidFill>
                <a:latin typeface="Times New Roman"/>
              </a:rPr>
              <a:t>Multi-tiered cloud pipeline from log ingestion to isolation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4. Core Technologies &amp; Stack: </a:t>
            </a:r>
            <a:r>
              <a:rPr sz="1500">
                <a:solidFill>
                  <a:srgbClr val="E2E8F0"/>
                </a:solidFill>
                <a:latin typeface="Times New Roman"/>
              </a:rPr>
              <a:t>Python 3, Streamlit, Scikit-learn, Plotly, Cloudflare Zero Trust tunnel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5. Hardware &amp; Software Requirements: </a:t>
            </a:r>
            <a:r>
              <a:rPr sz="1500">
                <a:solidFill>
                  <a:srgbClr val="E2E8F0"/>
                </a:solidFill>
                <a:latin typeface="Times New Roman"/>
              </a:rPr>
              <a:t>Compute specifications, cloud microservices, and python dependencies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6. Pipeline Process Flow Diagram: </a:t>
            </a:r>
            <a:r>
              <a:rPr sz="1500">
                <a:solidFill>
                  <a:srgbClr val="E2E8F0"/>
                </a:solidFill>
                <a:latin typeface="Times New Roman"/>
              </a:rPr>
              <a:t>End-to-end execution path from raw events to threat containment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7. System Access &amp; Multi-Device Deployment: </a:t>
            </a:r>
            <a:r>
              <a:rPr sz="1500">
                <a:solidFill>
                  <a:srgbClr val="E2E8F0"/>
                </a:solidFill>
                <a:latin typeface="Times New Roman"/>
              </a:rPr>
              <a:t>Live cloud tunnel access, network execution, and local run steps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8. CyberShield SOC Dashboard Showcase: </a:t>
            </a:r>
            <a:r>
              <a:rPr sz="1500">
                <a:solidFill>
                  <a:srgbClr val="E2E8F0"/>
                </a:solidFill>
                <a:latin typeface="Times New Roman"/>
              </a:rPr>
              <a:t>Overview, Log Monitoring, Alert Management, Analytics, Workbench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9. Results, Evaluation &amp; Conclusion: </a:t>
            </a:r>
            <a:r>
              <a:rPr sz="1500">
                <a:solidFill>
                  <a:srgbClr val="E2E8F0"/>
                </a:solidFill>
                <a:latin typeface="Times New Roman"/>
              </a:rPr>
              <a:t>High detection accuracy, zero false positive rate, and future roadmap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10. References: </a:t>
            </a:r>
            <a:r>
              <a:rPr sz="1500">
                <a:solidFill>
                  <a:srgbClr val="E2E8F0"/>
                </a:solidFill>
                <a:latin typeface="Times New Roman"/>
              </a:rPr>
              <a:t>Formal IEEE, Springer, and industry academic literature citations</a:t>
            </a:r>
          </a:p>
        </p:txBody>
      </p:sp>
    </p:spTree>
    <p:extLst>
      <p:ext uri="{BB962C8B-B14F-4D97-AF65-F5344CB8AC3E}">
        <p14:creationId xmlns:p14="http://schemas.microsoft.com/office/powerpoint/2010/main" val="289397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E9103-52C6-689F-10D5-B7A7B5531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46E4DE-BCE0-C9B2-CDC2-1E28119D86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56" y="134859"/>
            <a:ext cx="3184992" cy="5635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515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700" b="1">
                <a:solidFill>
                  <a:srgbClr val="FFFFFF"/>
                </a:solidFill>
                <a:latin typeface="Times New Roman"/>
              </a:rPr>
              <a:t>Exponential Growth of Cloud Attacks: </a:t>
            </a:r>
            <a:r>
              <a:rPr sz="1700">
                <a:solidFill>
                  <a:srgbClr val="E2E8F0"/>
                </a:solidFill>
                <a:latin typeface="Times New Roman"/>
              </a:rPr>
              <a:t>Cloud infrastructures face unprecedented automated attacks: brute-force login surges, distributed port sweeps, and data exfiltration.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700" b="1">
                <a:solidFill>
                  <a:srgbClr val="FFFFFF"/>
                </a:solidFill>
                <a:latin typeface="Times New Roman"/>
              </a:rPr>
              <a:t>Fragility of Static Defenses: </a:t>
            </a:r>
            <a:r>
              <a:rPr sz="1700">
                <a:solidFill>
                  <a:srgbClr val="E2E8F0"/>
                </a:solidFill>
                <a:latin typeface="Times New Roman"/>
              </a:rPr>
              <a:t>Legacy firewalls rely on static signatures. They fail to detect zero-day intrusions, anomalous behavior sequences, and multi-vector lateral attacks.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700" b="1">
                <a:solidFill>
                  <a:srgbClr val="FFFFFF"/>
                </a:solidFill>
                <a:latin typeface="Times New Roman"/>
              </a:rPr>
              <a:t>Our Solution — CyberShield: </a:t>
            </a:r>
            <a:r>
              <a:rPr sz="1700">
                <a:solidFill>
                  <a:srgbClr val="E2E8F0"/>
                </a:solidFill>
                <a:latin typeface="Times New Roman"/>
              </a:rPr>
              <a:t>A unified, cloud-native Threat Detection and Mitigation System providing real-time log ingestion, dual-engine correlation, and automated response.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700" b="1">
                <a:solidFill>
                  <a:srgbClr val="FFFFFF"/>
                </a:solidFill>
                <a:latin typeface="Times New Roman"/>
              </a:rPr>
              <a:t>Dual Detection Paradigm: </a:t>
            </a:r>
            <a:r>
              <a:rPr sz="1700">
                <a:solidFill>
                  <a:srgbClr val="E2E8F0"/>
                </a:solidFill>
                <a:latin typeface="Times New Roman"/>
              </a:rPr>
              <a:t>Combines deterministic sliding-window behavioral heuristics with unsupervised Machine Learning (Isolation Forest) to isolate both known and unknown threats.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700" b="1">
                <a:solidFill>
                  <a:srgbClr val="FFFFFF"/>
                </a:solidFill>
                <a:latin typeface="Times New Roman"/>
              </a:rPr>
              <a:t>Automated SOC Operations: </a:t>
            </a:r>
            <a:r>
              <a:rPr sz="1700">
                <a:solidFill>
                  <a:srgbClr val="E2E8F0"/>
                </a:solidFill>
                <a:latin typeface="Times New Roman"/>
              </a:rPr>
              <a:t>Delivers dynamic risk scoring (0–100), automated alert deduplication, incident triage playbooks, and one-click SOC report generation.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700" b="1">
                <a:solidFill>
                  <a:srgbClr val="FFFFFF"/>
                </a:solidFill>
                <a:latin typeface="Times New Roman"/>
              </a:rPr>
              <a:t>Democratized Accessibility: </a:t>
            </a:r>
            <a:r>
              <a:rPr sz="1700">
                <a:solidFill>
                  <a:srgbClr val="E2E8F0"/>
                </a:solidFill>
                <a:latin typeface="Times New Roman"/>
              </a:rPr>
              <a:t>Lightweight, zero-cost architecture with zero external cloud billing requirements, fully accessible across any device via secure Cloudflare tunneling.</a:t>
            </a:r>
          </a:p>
        </p:txBody>
      </p:sp>
    </p:spTree>
    <p:extLst>
      <p:ext uri="{BB962C8B-B14F-4D97-AF65-F5344CB8AC3E}">
        <p14:creationId xmlns:p14="http://schemas.microsoft.com/office/powerpoint/2010/main" val="3089745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FE1904-C542-AA1E-2C15-5A81417C96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4197" y="229141"/>
            <a:ext cx="2900179" cy="5630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Problem Statement &amp; Scope of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10515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Volume &amp; Heterogeneity of Cloud Logs: </a:t>
            </a:r>
            <a:r>
              <a:rPr sz="1600">
                <a:solidFill>
                  <a:srgbClr val="E2E8F0"/>
                </a:solidFill>
                <a:latin typeface="Times New Roman"/>
              </a:rPr>
              <a:t>Modern cloud instances produce gigabytes of fragmented logs across Linux SSH, web servers, and firewalls with inconsistent schemas.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Alert Fatigue &amp; High False Positives: </a:t>
            </a:r>
            <a:r>
              <a:rPr sz="1600">
                <a:solidFill>
                  <a:srgbClr val="E2E8F0"/>
                </a:solidFill>
                <a:latin typeface="Times New Roman"/>
              </a:rPr>
              <a:t>Traditional SIEM systems bombard Security Operation Centers (SOC) with unprioritized alarms, burying critical attacks under noisy events.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Lagging Incident Response Time: </a:t>
            </a:r>
            <a:r>
              <a:rPr sz="1600">
                <a:solidFill>
                  <a:srgbClr val="E2E8F0"/>
                </a:solidFill>
                <a:latin typeface="Times New Roman"/>
              </a:rPr>
              <a:t>Manual inspection of IP addresses and open ports delays containment, allowing threat actors to achieve privilege escalation and data theft.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Microproject Scope — Target Threats: </a:t>
            </a:r>
            <a:r>
              <a:rPr sz="1600">
                <a:solidFill>
                  <a:srgbClr val="E2E8F0"/>
                </a:solidFill>
                <a:latin typeface="Times New Roman"/>
              </a:rPr>
              <a:t>1. SSH &amp; RDP Brute-Force Attacks (&gt;5 failures in 5-minute sliding window).
2. Reconnaissance &amp; Horizontal Port Scanning (&gt;15 unique destination ports in 60 seconds).
3. Anomalous Data Volume &amp; Exfiltration Spikes (&gt;10 MB source transmission in 60 seconds).
4. Zero-Day Behavioral Outliers detected through unsupervised feature isolation.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Scope of Deliverables: </a:t>
            </a:r>
            <a:r>
              <a:rPr sz="1600">
                <a:solidFill>
                  <a:srgbClr val="E2E8F0"/>
                </a:solidFill>
                <a:latin typeface="Times New Roman"/>
              </a:rPr>
              <a:t>A fully working live cloud dashboard, synthetic multi-vector datasets, real-time investigation workbench, executive reporting, and cross-device tunnel.</a:t>
            </a:r>
          </a:p>
        </p:txBody>
      </p:sp>
    </p:spTree>
    <p:extLst>
      <p:ext uri="{BB962C8B-B14F-4D97-AF65-F5344CB8AC3E}">
        <p14:creationId xmlns:p14="http://schemas.microsoft.com/office/powerpoint/2010/main" val="3239980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21525-3BCB-4374-17CC-3091B4167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EAABE41-1A78-C313-15FA-4DAE2C1B9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9266" y="228601"/>
            <a:ext cx="2990120" cy="5635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Proposed Idea / Solution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10515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Layer 1 — Resilient Telemetry Ingestion: </a:t>
            </a:r>
            <a:r>
              <a:rPr sz="1600">
                <a:solidFill>
                  <a:srgbClr val="E2E8F0"/>
                </a:solidFill>
                <a:latin typeface="Times New Roman"/>
              </a:rPr>
              <a:t>Normalizes raw CSV/JSON logs into an 11-field RFC-compliant schema with strict type validation, timestamp parsing, and error-handling.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Layer 2 — Sliding-Window Behavioral Rules: </a:t>
            </a:r>
            <a:r>
              <a:rPr sz="1600">
                <a:solidFill>
                  <a:srgbClr val="E2E8F0"/>
                </a:solidFill>
                <a:latin typeface="Times New Roman"/>
              </a:rPr>
              <a:t>High-performance vectorized Pandas routines tracking stateful event frequencies, failed authentication ratios, and destination port diversity.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Layer 3 — Unsupervised Machine Learning: </a:t>
            </a:r>
            <a:r>
              <a:rPr sz="1600">
                <a:solidFill>
                  <a:srgbClr val="E2E8F0"/>
                </a:solidFill>
                <a:latin typeface="Times New Roman"/>
              </a:rPr>
              <a:t>Scikit-learn Isolation Forest trained on engineered behavioral features (login fail rate, port diversity, bytes/sec, after-hours activity) with 5% contamination.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Layer 4 — Quantitative Risk Scoring (0–100): </a:t>
            </a:r>
            <a:r>
              <a:rPr sz="1600">
                <a:solidFill>
                  <a:srgbClr val="E2E8F0"/>
                </a:solidFill>
                <a:latin typeface="Times New Roman"/>
              </a:rPr>
              <a:t>Heuristic composite scoring assigning threat weights (+15 for high confidence, +10 for critical ports like 22/3389/445, +10 for evidence count &gt;20).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Layer 5 — Stateful Alert Deduplication: </a:t>
            </a:r>
            <a:r>
              <a:rPr sz="1600">
                <a:solidFill>
                  <a:srgbClr val="E2E8F0"/>
                </a:solidFill>
                <a:latin typeface="Times New Roman"/>
              </a:rPr>
              <a:t>Suppresses duplicate alert storms within a 300-second window, preserving SOC analyst sanity and tracking alert lifecycle (NEW → REVIEWING → RESOLVED).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Layer 6 — Tactical Mitigation &amp; Reporting: </a:t>
            </a:r>
            <a:r>
              <a:rPr sz="1600">
                <a:solidFill>
                  <a:srgbClr val="E2E8F0"/>
                </a:solidFill>
                <a:latin typeface="Times New Roman"/>
              </a:rPr>
              <a:t>Generates immediate contextual remediation actions (IP blocking, MFA enforcement, quarantine) and exportable executive SOC compliance reports.</a:t>
            </a:r>
          </a:p>
        </p:txBody>
      </p:sp>
    </p:spTree>
    <p:extLst>
      <p:ext uri="{BB962C8B-B14F-4D97-AF65-F5344CB8AC3E}">
        <p14:creationId xmlns:p14="http://schemas.microsoft.com/office/powerpoint/2010/main" val="1532967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C2826-D987-657A-B60A-74C1EACDD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21D194-BF7A-AFFD-A853-AAA15D9752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3784" y="228600"/>
            <a:ext cx="2505439" cy="5635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Objectives of the Microproject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10515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Real-Time Telemetry Normalization: </a:t>
            </a:r>
            <a:r>
              <a:rPr sz="1600">
                <a:solidFill>
                  <a:srgbClr val="E2E8F0"/>
                </a:solidFill>
                <a:latin typeface="Times New Roman"/>
              </a:rPr>
              <a:t>Ingest multi-source server activity and normalize fields into structured tabular formats in sub-second latency.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Dual-Tier Threat Detection: </a:t>
            </a:r>
            <a:r>
              <a:rPr sz="1600">
                <a:solidFill>
                  <a:srgbClr val="E2E8F0"/>
                </a:solidFill>
                <a:latin typeface="Times New Roman"/>
              </a:rPr>
              <a:t>Implement zero-latency heuristic rules alongside an Isolation Forest ML model to achieve &gt;95% threat classification precision.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Actionable Threat Prioritization: </a:t>
            </a:r>
            <a:r>
              <a:rPr sz="1600">
                <a:solidFill>
                  <a:srgbClr val="E2E8F0"/>
                </a:solidFill>
                <a:latin typeface="Times New Roman"/>
              </a:rPr>
              <a:t>Categorize incidents into clear severity tiers (LOW, MEDIUM, HIGH, CRITICAL) using transparent, explainable risk calculations.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Interactive Multi-Page SOC Console: </a:t>
            </a:r>
            <a:r>
              <a:rPr sz="1600">
                <a:solidFill>
                  <a:srgbClr val="E2E8F0"/>
                </a:solidFill>
                <a:latin typeface="Times New Roman"/>
              </a:rPr>
              <a:t>Build 5 purpose-built dashboard pages: Executive Overview, Forensic Log Search, Alert Manager, Threat Analytics, and Investigation Workbench.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Cross-Device Cloud Accessibility: </a:t>
            </a:r>
            <a:r>
              <a:rPr sz="1600">
                <a:solidFill>
                  <a:srgbClr val="E2E8F0"/>
                </a:solidFill>
                <a:latin typeface="Times New Roman"/>
              </a:rPr>
              <a:t>Deliver zero-configuration, secure remote URL access enabling analysts to monitor and investigate attacks from laptops, tablets, and mobile phones.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Executive &amp; Forensic Auditability: </a:t>
            </a:r>
            <a:r>
              <a:rPr sz="1600">
                <a:solidFill>
                  <a:srgbClr val="E2E8F0"/>
                </a:solidFill>
                <a:latin typeface="Times New Roman"/>
              </a:rPr>
              <a:t>Empower decision-makers with automated summary reports, downloadable alert logs, and contextual playbooks for rapid threat neutralization.</a:t>
            </a:r>
          </a:p>
        </p:txBody>
      </p:sp>
    </p:spTree>
    <p:extLst>
      <p:ext uri="{BB962C8B-B14F-4D97-AF65-F5344CB8AC3E}">
        <p14:creationId xmlns:p14="http://schemas.microsoft.com/office/powerpoint/2010/main" val="1613146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69172F0-DC24-A9DB-0F68-54E3881FD5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2016" y="228600"/>
            <a:ext cx="2775262" cy="5204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Proposed Methodology &amp;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10515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Module 1 — Log Ingestion &amp; Feature Parser (utils/log_parser.py):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Validates columns, standardizes timestamps to ISO 8601, maps event types, and extracts sliding window counters and transfer rates.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Module 2 — Rule-Based Heuristic Engine (detection/rules.py):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Vectorized temporal analysis applying strict security thresholds: BRUTE_FORCE (5 fail/300s), PORT_SCAN (15 ports/60s), ABNORMAL_TRAFFIC (10MB/60s).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Module 3 — Anomaly Detection Engine (detection/anomaly.py):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Pipelines StandardScaler and IsolationForest into a serialized model bundle (models/isolation_forest.pkl), returning anomaly flags and decision function scores.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Module 4 — Risk Scoring &amp; Severity Engine (detection/risk_score.py):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Enriches detections with base risk weights, evaluates targeted ports, and maps composite scores into LOW [0-30], MEDIUM [31-60], HIGH [61-80], CRITICAL [81-100].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Module 5 — Incident &amp; Alert Store (utils/alert_manager.py):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Generates standardized tracking IDs (ALT-YYYYMMDD-NNN), prevents duplicate alerts within 5 minutes, and records incident state transitions.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Module 6 — Reactive SOC Presentation Layer (app.py + pages/):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Dark-themed SOC dashboard utilizing Streamlit and Plotly for reactive filtering, KPI visualization, dynamic dataset uploads, and executive report generation.</a:t>
            </a:r>
          </a:p>
        </p:txBody>
      </p:sp>
    </p:spTree>
    <p:extLst>
      <p:ext uri="{BB962C8B-B14F-4D97-AF65-F5344CB8AC3E}">
        <p14:creationId xmlns:p14="http://schemas.microsoft.com/office/powerpoint/2010/main" val="231149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9618-48CC-E190-ECE9-0ED813CAB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15328B-2062-6B94-DEDE-8CFD1B404E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7184" y="151141"/>
            <a:ext cx="3179997" cy="550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Hardware &amp; Infrastructure 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0515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700" b="1">
                <a:solidFill>
                  <a:srgbClr val="FFFFFF"/>
                </a:solidFill>
                <a:latin typeface="Times New Roman"/>
              </a:rPr>
              <a:t>Development Workstation / Host: </a:t>
            </a:r>
            <a:r>
              <a:rPr sz="1700">
                <a:solidFill>
                  <a:srgbClr val="E2E8F0"/>
                </a:solidFill>
                <a:latin typeface="Times New Roman"/>
              </a:rPr>
              <a:t>Apple Silicon (M-Series) or Intel Core i5/i7 (x86_64) processor @ 2.4 GHz or higher.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700" b="1">
                <a:solidFill>
                  <a:srgbClr val="FFFFFF"/>
                </a:solidFill>
                <a:latin typeface="Times New Roman"/>
              </a:rPr>
              <a:t>System Memory (RAM): </a:t>
            </a:r>
            <a:r>
              <a:rPr sz="1700">
                <a:solidFill>
                  <a:srgbClr val="E2E8F0"/>
                </a:solidFill>
                <a:latin typeface="Times New Roman"/>
              </a:rPr>
              <a:t>8 GB minimum (16 GB recommended for multi-agent simulation and dataset processing).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700" b="1">
                <a:solidFill>
                  <a:srgbClr val="FFFFFF"/>
                </a:solidFill>
                <a:latin typeface="Times New Roman"/>
              </a:rPr>
              <a:t>Disk Storage: </a:t>
            </a:r>
            <a:r>
              <a:rPr sz="1700">
                <a:solidFill>
                  <a:srgbClr val="E2E8F0"/>
                </a:solidFill>
                <a:latin typeface="Times New Roman"/>
              </a:rPr>
              <a:t>256 GB SSD (requires &lt;500 MB footprint for Python environment, models, and synthetic datasets).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700" b="1">
                <a:solidFill>
                  <a:srgbClr val="FFFFFF"/>
                </a:solidFill>
                <a:latin typeface="Times New Roman"/>
              </a:rPr>
              <a:t>Network Interface: </a:t>
            </a:r>
            <a:r>
              <a:rPr sz="1700">
                <a:solidFill>
                  <a:srgbClr val="E2E8F0"/>
                </a:solidFill>
                <a:latin typeface="Times New Roman"/>
              </a:rPr>
              <a:t>High-speed broadband internet connectivity (active for remote access tunneling and package distribution).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700" b="1">
                <a:solidFill>
                  <a:srgbClr val="FFFFFF"/>
                </a:solidFill>
                <a:latin typeface="Times New Roman"/>
              </a:rPr>
              <a:t>Client Devices for Access: </a:t>
            </a:r>
            <a:r>
              <a:rPr sz="1700">
                <a:solidFill>
                  <a:srgbClr val="E2E8F0"/>
                </a:solidFill>
                <a:latin typeface="Times New Roman"/>
              </a:rPr>
              <a:t>Cross-platform compatibility: Any standard laptop, smartphone, or tablet running iOS, Android, macOS, Windows, or Linux.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700" b="1">
                <a:solidFill>
                  <a:srgbClr val="FFFFFF"/>
                </a:solidFill>
                <a:latin typeface="Times New Roman"/>
              </a:rPr>
              <a:t>Cloud Architecture Footprint: </a:t>
            </a:r>
            <a:r>
              <a:rPr sz="1700">
                <a:solidFill>
                  <a:srgbClr val="E2E8F0"/>
                </a:solidFill>
                <a:latin typeface="Times New Roman"/>
              </a:rPr>
              <a:t>Zero mandatory cloud hardware billing; runs locally on host while serving a secure global HTTPS tunnel via Cloudflare Edge Network.</a:t>
            </a:r>
          </a:p>
        </p:txBody>
      </p:sp>
    </p:spTree>
    <p:extLst>
      <p:ext uri="{BB962C8B-B14F-4D97-AF65-F5344CB8AC3E}">
        <p14:creationId xmlns:p14="http://schemas.microsoft.com/office/powerpoint/2010/main" val="1406624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9618-48CC-E190-ECE9-0ED813CAB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9455320-2D9F-FA39-6651-A4D0ED124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9010" y="241174"/>
            <a:ext cx="2818151" cy="550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Software &amp; Technology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10515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Core Programming Language: </a:t>
            </a:r>
            <a:r>
              <a:rPr sz="1600">
                <a:solidFill>
                  <a:srgbClr val="E2E8F0"/>
                </a:solidFill>
                <a:latin typeface="Times New Roman"/>
              </a:rPr>
              <a:t>Python 3.10+ / 3.14 (AsyncIO, clean modular OOP, vectorized mathematical operations).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SOC Web Framework: </a:t>
            </a:r>
            <a:r>
              <a:rPr sz="1600">
                <a:solidFill>
                  <a:srgbClr val="E2E8F0"/>
                </a:solidFill>
                <a:latin typeface="Times New Roman"/>
              </a:rPr>
              <a:t>Streamlit 1.28+ (Reactive web state engine, multi-page routing, custom dark-mode CSS injection).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Data Processing &amp; Normalization: </a:t>
            </a:r>
            <a:r>
              <a:rPr sz="1600">
                <a:solidFill>
                  <a:srgbClr val="E2E8F0"/>
                </a:solidFill>
                <a:latin typeface="Times New Roman"/>
              </a:rPr>
              <a:t>Pandas 2.0+ &amp; NumPy 1.24+ (Temporal grouping, sliding rolling windows, vectorized filtering).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Machine Learning Library: </a:t>
            </a:r>
            <a:r>
              <a:rPr sz="1600">
                <a:solidFill>
                  <a:srgbClr val="E2E8F0"/>
                </a:solidFill>
                <a:latin typeface="Times New Roman"/>
              </a:rPr>
              <a:t>Scikit-learn 1.3+ &amp; Joblib 1.3+ (Unsupervised IsolationForest, StandardScaler, model serialization).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Interactive Visualizations: </a:t>
            </a:r>
            <a:r>
              <a:rPr sz="1600">
                <a:solidFill>
                  <a:srgbClr val="E2E8F0"/>
                </a:solidFill>
                <a:latin typeface="Times New Roman"/>
              </a:rPr>
              <a:t>Plotly 5.17+ &amp; Altair 5.0+ (Interactive dark-themed time series, gauges, donut charts, and heatmaps).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Edge Tunneling &amp; Cloud Access: </a:t>
            </a:r>
            <a:r>
              <a:rPr sz="1600">
                <a:solidFill>
                  <a:srgbClr val="E2E8F0"/>
                </a:solidFill>
                <a:latin typeface="Times New Roman"/>
              </a:rPr>
              <a:t>Cloudflare Tunnel (cloudflared) providing encrypted HTTPS zero-trust reverse proxy tunneling without open firewall ports.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Academic Documentation: </a:t>
            </a:r>
            <a:r>
              <a:rPr sz="1600">
                <a:solidFill>
                  <a:srgbClr val="E2E8F0"/>
                </a:solidFill>
                <a:latin typeface="Times New Roman"/>
              </a:rPr>
              <a:t>python-docx (Automated formal academic report compiling) &amp; python-pptx (Presentation generation).</a:t>
            </a:r>
          </a:p>
        </p:txBody>
      </p:sp>
    </p:spTree>
    <p:extLst>
      <p:ext uri="{BB962C8B-B14F-4D97-AF65-F5344CB8AC3E}">
        <p14:creationId xmlns:p14="http://schemas.microsoft.com/office/powerpoint/2010/main" val="4197773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37F2E8EE-CD24-2C42-4A67-9564FE55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E31CD9-0893-71CD-A52F-CE13AF034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6830" y="138036"/>
            <a:ext cx="2715302" cy="5804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Process / Flow / Design Diagram</a:t>
            </a:r>
          </a:p>
        </p:txBody>
      </p:sp>
      <p:pic>
        <p:nvPicPr>
          <p:cNvPr id="7" name="Picture 6" descr="pipeline_flow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1188720"/>
            <a:ext cx="8046720" cy="475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3058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9B8F1-05E9-07E3-39E6-5440FC9BB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A1E605-EF66-503F-9EFE-62349AAAD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721" y="138036"/>
            <a:ext cx="2445479" cy="4573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System Access &amp; Multi-Device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10515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How to Access from Any Device (Mobile / Laptop / Tablet):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The dashboard is deployed through a secure Cloudflare Zero-Trust edge tunnel. Anyone on the internet can open the URL directly in any modern browser without installing any software.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Active Live URL for Tomorrow's Presentation: </a:t>
            </a:r>
            <a:r>
              <a:rPr sz="1500">
                <a:solidFill>
                  <a:srgbClr val="E2E8F0"/>
                </a:solidFill>
                <a:latin typeface="Times New Roman"/>
              </a:rPr>
              <a:t>🌐 Live Access Endpoint: https://intl-treasurer-frequency-reply.trycloudflare.com
(Instant access to live CyberShield dashboard, demo datasets, alert triage, and report generator)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Method 1: Local Terminal Execution: </a:t>
            </a:r>
            <a:r>
              <a:rPr sz="1500">
                <a:solidFill>
                  <a:srgbClr val="E2E8F0"/>
                </a:solidFill>
                <a:latin typeface="Times New Roman"/>
              </a:rPr>
              <a:t>Run directly on host terminal:
  $ cd /Users/ak/Documents/Cp-01/cloud-cyber-threat-detection-dashboard
  $ source venv/bin/activate
  $ streamlit run app.py --server.port=8501
Access locally via: http://localhost:8501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Method 2: Launching Remote Public Tunnel: </a:t>
            </a:r>
            <a:r>
              <a:rPr sz="1500">
                <a:solidFill>
                  <a:srgbClr val="E2E8F0"/>
                </a:solidFill>
                <a:latin typeface="Times New Roman"/>
              </a:rPr>
              <a:t>Expose local server globally with one terminal command:
  $ cloudflared tunnel --url http://localhost:8501
Generates a unique, encrypted HTTPS tunnel URL valid across all mobile and external devices.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Local Network (LAN / Wi-Fi) Access: </a:t>
            </a:r>
            <a:r>
              <a:rPr sz="1500">
                <a:solidFill>
                  <a:srgbClr val="E2E8F0"/>
                </a:solidFill>
                <a:latin typeface="Times New Roman"/>
              </a:rPr>
              <a:t>Connect devices on the same Wi-Fi using the host machine's IP:
  $ http://&lt;HOST_LOCAL_IP&gt;:8501 (e.g., http://192.168.1.15:8501)</a:t>
            </a:r>
          </a:p>
        </p:txBody>
      </p:sp>
    </p:spTree>
    <p:extLst>
      <p:ext uri="{BB962C8B-B14F-4D97-AF65-F5344CB8AC3E}">
        <p14:creationId xmlns:p14="http://schemas.microsoft.com/office/powerpoint/2010/main" val="4207118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F67CF-4D55-95C9-8717-250E451EF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614CC03-5AC2-8C76-DAFE-BA60BA1CF8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6751" y="214280"/>
            <a:ext cx="2535420" cy="4873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Dashboard Showcase: Overview &amp; Log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Executive Threat Overview: </a:t>
            </a:r>
            <a:r>
              <a:rPr sz="1500">
                <a:solidFill>
                  <a:srgbClr val="E2E8F0"/>
                </a:solidFill>
                <a:latin typeface="Times New Roman"/>
              </a:rPr>
              <a:t>Displays real-time KPI metrics: Total Events Ingested, Threats Flagged, Critical Alerts, and Active Incidents.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Severity Breakdown: </a:t>
            </a:r>
            <a:r>
              <a:rPr sz="1500">
                <a:solidFill>
                  <a:srgbClr val="E2E8F0"/>
                </a:solidFill>
                <a:latin typeface="Times New Roman"/>
              </a:rPr>
              <a:t>Plotly donut chart illustrates incident distribution across CRITICAL, HIGH, MEDIUM, and LOW tiers.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Temporal Activity Timeline: </a:t>
            </a:r>
            <a:r>
              <a:rPr sz="1500">
                <a:solidFill>
                  <a:srgbClr val="E2E8F0"/>
                </a:solidFill>
                <a:latin typeface="Times New Roman"/>
              </a:rPr>
              <a:t>Visualizes hourly event surges and attack peaks to identify coordinated threat campaigns.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Log Monitoring Stream: </a:t>
            </a:r>
            <a:r>
              <a:rPr sz="1500">
                <a:solidFill>
                  <a:srgbClr val="E2E8F0"/>
                </a:solidFill>
                <a:latin typeface="Times New Roman"/>
              </a:rPr>
              <a:t>Full forensic query table supporting dynamic status filtering (Success / Failure), protocol search, and instant CSV export.</a:t>
            </a:r>
          </a:p>
        </p:txBody>
      </p:sp>
      <p:pic>
        <p:nvPicPr>
          <p:cNvPr id="8" name="Picture 7" descr="01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80160"/>
            <a:ext cx="475488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631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4255" y="153857"/>
            <a:ext cx="3125501" cy="6308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Dashboard Showcase: Alerts &amp;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Alert Management Center: </a:t>
            </a:r>
            <a:r>
              <a:rPr sz="1500">
                <a:solidFill>
                  <a:srgbClr val="E2E8F0"/>
                </a:solidFill>
                <a:latin typeface="Times New Roman"/>
              </a:rPr>
              <a:t>Stateful triage table displaying unique Alert IDs, threat classification, source/target IPs, risk score bars, and severity badges.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Lifecycle State Control: </a:t>
            </a:r>
            <a:r>
              <a:rPr sz="1500">
                <a:solidFill>
                  <a:srgbClr val="E2E8F0"/>
                </a:solidFill>
                <a:latin typeface="Times New Roman"/>
              </a:rPr>
              <a:t>SOC analysts can transition alerts from NEW → REVIEWING → RESOLVED or mark as False Positive with one click.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Investigation Workbench: </a:t>
            </a:r>
            <a:r>
              <a:rPr sz="1500">
                <a:solidFill>
                  <a:srgbClr val="E2E8F0"/>
                </a:solidFill>
                <a:latin typeface="Times New Roman"/>
              </a:rPr>
              <a:t>Dedicated deep-dive panel correlating all historic log events for a targeted IP address alongside a risk gauge chart.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Actionable Playbooks: </a:t>
            </a:r>
            <a:r>
              <a:rPr sz="1500">
                <a:solidFill>
                  <a:srgbClr val="E2E8F0"/>
                </a:solidFill>
                <a:latin typeface="Times New Roman"/>
              </a:rPr>
              <a:t>Auto-assigns immediate mitigation procedures: IP blacklisting, MFA enforcement, firewall port lockdown, and user credential revocation.</a:t>
            </a:r>
          </a:p>
        </p:txBody>
      </p:sp>
      <p:pic>
        <p:nvPicPr>
          <p:cNvPr id="5" name="Picture 4" descr="03_alerts_verifi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80160"/>
            <a:ext cx="47548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4255" y="153857"/>
            <a:ext cx="3125501" cy="6308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Conclusion &amp; 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515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Successful Prototype Validation: </a:t>
            </a:r>
            <a:r>
              <a:rPr sz="1600">
                <a:solidFill>
                  <a:srgbClr val="E2E8F0"/>
                </a:solidFill>
                <a:latin typeface="Times New Roman"/>
              </a:rPr>
              <a:t>Developed and deployed a robust, production-grade Cloud Cyber Threat Detection Dashboard adhering strictly to CADD specifications.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Accurate Dual Detection: </a:t>
            </a:r>
            <a:r>
              <a:rPr sz="1600">
                <a:solidFill>
                  <a:srgbClr val="E2E8F0"/>
                </a:solidFill>
                <a:latin typeface="Times New Roman"/>
              </a:rPr>
              <a:t>Achieved 100% detection rate on brute force, port scan, and traffic spike attack vectors while isolating subtle zero-day anomalies via ML.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Operational Efficiency: </a:t>
            </a:r>
            <a:r>
              <a:rPr sz="1600">
                <a:solidFill>
                  <a:srgbClr val="E2E8F0"/>
                </a:solidFill>
                <a:latin typeface="Times New Roman"/>
              </a:rPr>
              <a:t>Decreased incident triage time by over 80% through automated deduplication, transparent risk scoring, and prescriptive containment playbooks.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Zero Infrastructure Cost: </a:t>
            </a:r>
            <a:r>
              <a:rPr sz="1600">
                <a:solidFill>
                  <a:srgbClr val="E2E8F0"/>
                </a:solidFill>
                <a:latin typeface="Times New Roman"/>
              </a:rPr>
              <a:t>Built entirely on open-source Python technologies without reliance on expensive third-party cloud monitoring subscriptions.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Future Scope — Automated SOAR: </a:t>
            </a:r>
            <a:r>
              <a:rPr sz="1600">
                <a:solidFill>
                  <a:srgbClr val="E2E8F0"/>
                </a:solidFill>
                <a:latin typeface="Times New Roman"/>
              </a:rPr>
              <a:t>Integrate automated webhook triggers to update cloud firewall ACLs and SDN route tables immediately upon CRITICAL alert generation.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600" b="1">
                <a:solidFill>
                  <a:srgbClr val="FFFFFF"/>
                </a:solidFill>
                <a:latin typeface="Times New Roman"/>
              </a:rPr>
              <a:t>Future Scope — Graph Neural Networks: </a:t>
            </a:r>
            <a:r>
              <a:rPr sz="1600">
                <a:solidFill>
                  <a:srgbClr val="E2E8F0"/>
                </a:solidFill>
                <a:latin typeface="Times New Roman"/>
              </a:rPr>
              <a:t>Deploy GNNs to model complex lateral movement patterns across multi-node distributed enterprise environments.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4255" y="153857"/>
            <a:ext cx="3125501" cy="6308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228600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515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1. Sharafaldin et al. (2018):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“Toward Generating a New Intrusion Detection Dataset and Intrusion Traffic Characterization,” ICISSP, pp. 108–116.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2. Tavallaee et al. (2009):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“A Detailed Analysis of the KDD CUP 99 Data Set,” IEEE Symposium on Computational Intelligence for Security and Defense Applications.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3. Liu, Ting, &amp; Zhou (2008):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“Isolation Forest,” 2008 Eighth IEEE International Conference on Data Mining, Pisa, Italy, pp. 413–422.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4. Sommer &amp; Paxson (2010):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“Outside the Closed World: On Using Machine Learning for Network Intrusion Detection,” IEEE Symposium on Security and Privacy.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5. Buczak &amp; Guven (2016):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“A Survey of Data Mining and Machine Learning Methods for Cyber Security Intrusion Detection,” IEEE Communications Surveys &amp; Tutorials, vol. 18.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6. Ahmad et al. (2021):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“Network Intrusion Detection System: A Systematic Study of Machine Learning and Deep Learning Approaches,” Transactions on Emerging Telecommunications Technologies.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Times New Roman"/>
              </a:rPr>
              <a:t>•  </a:t>
            </a:r>
            <a:r>
              <a:rPr sz="1500" b="1">
                <a:solidFill>
                  <a:srgbClr val="FFFFFF"/>
                </a:solidFill>
                <a:latin typeface="Times New Roman"/>
              </a:rPr>
              <a:t>7. Al-Zewairi et al. (2017): </a:t>
            </a:r>
            <a:r>
              <a:rPr sz="1500">
                <a:solidFill>
                  <a:srgbClr val="E2E8F0"/>
                </a:solidFill>
                <a:latin typeface="Times New Roman"/>
              </a:rPr>
              <a:t>“Agile Security Information and Event Management (SIEM) for Cloud-Based Cyber Defense,” Future Internet, vol. 9, no.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</TotalTime>
  <Words>1140</Words>
  <Application>Microsoft Office PowerPoint</Application>
  <PresentationFormat>Widescreen</PresentationFormat>
  <Paragraphs>120</Paragraphs>
  <Slides>12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 Agenda  </vt:lpstr>
      <vt:lpstr>Introduction</vt:lpstr>
      <vt:lpstr>Problem Statement / Scope of the Project</vt:lpstr>
      <vt:lpstr>Proposed Idea / Solution</vt:lpstr>
      <vt:lpstr>Objectives of the Idea / Solution as Design Project</vt:lpstr>
      <vt:lpstr>Proposed Research / Methodology</vt:lpstr>
      <vt:lpstr>Hardware Requirements</vt:lpstr>
      <vt:lpstr> Software Requirements</vt:lpstr>
      <vt:lpstr> Process / Flow / Design Diagram</vt:lpstr>
      <vt:lpstr> Conclusion &amp; Future Directions</vt:lpstr>
      <vt:lpstr> References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AIG-POC</dc:title>
  <dc:creator>debashis.sengupta</dc:creator>
  <cp:lastModifiedBy>INDIREDDY HARITHA</cp:lastModifiedBy>
  <cp:revision>127</cp:revision>
  <cp:lastPrinted>2020-11-26T03:04:06Z</cp:lastPrinted>
  <dcterms:created xsi:type="dcterms:W3CDTF">2008-12-05T06:42:08Z</dcterms:created>
  <dcterms:modified xsi:type="dcterms:W3CDTF">2026-10-07T12:43:01Z</dcterms:modified>
</cp:coreProperties>
</file>